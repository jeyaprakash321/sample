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F2044"/>
          </a:solidFill>
          <a:ln>
            <a:solidFill>
              <a:srgbClr val="0F2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HACKATHON SUBMISSION  |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1645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94A3B8"/>
                </a:solidFill>
                <a:latin typeface="Calibri"/>
              </a:rPr>
              <a:t>TEAM-1097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B6D4"/>
                </a:solidFill>
                <a:latin typeface="Calibri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459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3B82F6"/>
                </a:solidFill>
                <a:latin typeface="Calibri"/>
              </a:rPr>
              <a:t>FloodSight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606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6B6D4"/>
                </a:solidFill>
                <a:latin typeface="Calibri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Disaster Intelligence &amp; Response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794760"/>
            <a:ext cx="7315200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38862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Real-time flood disaster analysis using satellite imagery, multi-agent AI pipelines,
GPU-accelerated object detection and MCP orchestration.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663440"/>
            <a:ext cx="2377440" cy="777240"/>
          </a:xfrm>
          <a:prstGeom prst="roundRect">
            <a:avLst>
              <a:gd name="adj" fmla="val 6944"/>
            </a:avLst>
          </a:prstGeom>
          <a:solidFill>
            <a:srgbClr val="0F2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4709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Team-1097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663440"/>
            <a:ext cx="2377440" cy="777240"/>
          </a:xfrm>
          <a:prstGeom prst="roundRect">
            <a:avLst>
              <a:gd name="adj" fmla="val 6944"/>
            </a:avLst>
          </a:prstGeom>
          <a:solidFill>
            <a:srgbClr val="0F2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709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Jeyaprakash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663440"/>
            <a:ext cx="2377440" cy="777240"/>
          </a:xfrm>
          <a:prstGeom prst="roundRect">
            <a:avLst>
              <a:gd name="adj" fmla="val 6944"/>
            </a:avLst>
          </a:prstGeom>
          <a:solidFill>
            <a:srgbClr val="0F2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709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Lead Dev +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4663440"/>
            <a:ext cx="2377440" cy="777240"/>
          </a:xfrm>
          <a:prstGeom prst="roundRect">
            <a:avLst>
              <a:gd name="adj" fmla="val 6944"/>
            </a:avLst>
          </a:prstGeom>
          <a:solidFill>
            <a:srgbClr val="0F2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4709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CHALLENGE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937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Disaster Mgmt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2377440" cy="4114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0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64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02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411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713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&amp;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1051560"/>
            <a:ext cx="2011680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4A3B8"/>
                </a:solidFill>
                <a:latin typeface="Calibri"/>
              </a:rPr>
              <a:t>AMD Hackathon 2026  |  Team-1097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0"/>
            <a:ext cx="981151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0"/>
            <a:ext cx="9811512" cy="457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6675120"/>
            <a:ext cx="9811512" cy="1828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1188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1 in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people in flood
risk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2148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72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critical rescue
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3108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" y="3429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disasters are
flood-related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109728"/>
            <a:ext cx="9537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Calibri"/>
              </a:rPr>
              <a:t>Problem Statement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594360"/>
            <a:ext cx="9491472" cy="1417320"/>
          </a:xfrm>
          <a:prstGeom prst="roundRect">
            <a:avLst>
              <a:gd name="adj" fmla="val 6944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594360"/>
            <a:ext cx="73152" cy="14173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658368"/>
            <a:ext cx="93543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During floods, emergency responders lack real-time, AI-powered tools to assess flood severity, locate stranded people, estimate population impact, and generate rescue plans — all from a single satellite image in seconds.
Current tools require manual GIS analysis taking 4–12 hours with no automated AI pipeline for India.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2148840"/>
            <a:ext cx="9491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  <a:latin typeface="Calibri"/>
              </a:rPr>
              <a:t>Target Users / Stakeholders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2514600"/>
            <a:ext cx="1371600" cy="256032"/>
          </a:xfrm>
          <a:prstGeom prst="roundRect">
            <a:avLst>
              <a:gd name="adj" fmla="val 4166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5146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NDRF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0208" y="2514600"/>
            <a:ext cx="8074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– Real-time rescue planning from satellite feeds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2816352"/>
            <a:ext cx="1371600" cy="256032"/>
          </a:xfrm>
          <a:prstGeom prst="roundRect">
            <a:avLst>
              <a:gd name="adj" fmla="val 4166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28163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State Disaster Mgmt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2816352"/>
            <a:ext cx="8074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– District-level flood impact assessment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3118104"/>
            <a:ext cx="1371600" cy="256032"/>
          </a:xfrm>
          <a:prstGeom prst="roundRect">
            <a:avLst>
              <a:gd name="adj" fmla="val 4166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118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ISRO / IMD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0208" y="3118104"/>
            <a:ext cx="8074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– Automated satellite image intelligence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3419856"/>
            <a:ext cx="1371600" cy="256032"/>
          </a:xfrm>
          <a:prstGeom prst="roundRect">
            <a:avLst>
              <a:gd name="adj" fmla="val 41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34198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Humanitarian NGOs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0208" y="3419856"/>
            <a:ext cx="8074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– Rapid resource allocation and relief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3813048"/>
            <a:ext cx="9491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  <a:latin typeface="Calibri"/>
              </a:rPr>
              <a:t>Why This Problem Matters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14600" y="416052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4142232"/>
            <a:ext cx="9308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India loses $3–14B annually to flood damage (World Bank, 2023)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4416552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4398264"/>
            <a:ext cx="9308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Bihar / Assam floods displace 2–8 million people every monsoon season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14600" y="4672584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97480" y="4654296"/>
            <a:ext cx="9308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First 72 hours critical — current manual assessment takes 4–12 hours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14600" y="4928616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97480" y="4910328"/>
            <a:ext cx="9308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AI triage can reduce response time by 80% and save thousands of lives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14600" y="6446520"/>
            <a:ext cx="6858000" cy="274320"/>
          </a:xfrm>
          <a:prstGeom prst="roundRect">
            <a:avLst>
              <a:gd name="adj" fmla="val 416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6464808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Mapped Challenge:  AI for Disaster Management &amp; Emergency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2377440" cy="4114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64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03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411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713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1051560"/>
            <a:ext cx="2011680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4A3B8"/>
                </a:solidFill>
                <a:latin typeface="Calibri"/>
              </a:rPr>
              <a:t>AMD Hackathon 2026  |  Team-1097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0"/>
            <a:ext cx="981151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0"/>
            <a:ext cx="9811512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6675120"/>
            <a:ext cx="9811512" cy="1828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" y="1234440"/>
            <a:ext cx="2148840" cy="256032"/>
          </a:xfrm>
          <a:prstGeom prst="roundRect">
            <a:avLst>
              <a:gd name="adj" fmla="val 4166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" y="123444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Vision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" y="1554480"/>
            <a:ext cx="2148840" cy="256032"/>
          </a:xfrm>
          <a:prstGeom prst="roundRect">
            <a:avLst>
              <a:gd name="adj" fmla="val 4166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" y="15544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Satellite CV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" y="1874520"/>
            <a:ext cx="2148840" cy="256032"/>
          </a:xfrm>
          <a:prstGeom prst="roundRect">
            <a:avLst>
              <a:gd name="adj" fmla="val 4166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187452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Multi-Agent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" y="2194560"/>
            <a:ext cx="2148840" cy="256032"/>
          </a:xfrm>
          <a:prstGeom prst="roundRect">
            <a:avLst>
              <a:gd name="adj" fmla="val 4166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" y="21945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MCP Protocol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" y="2514600"/>
            <a:ext cx="2148840" cy="256032"/>
          </a:xfrm>
          <a:prstGeom prst="roundRect">
            <a:avLst>
              <a:gd name="adj" fmla="val 4166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" y="25146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SegFormer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" y="2834640"/>
            <a:ext cx="2148840" cy="256032"/>
          </a:xfrm>
          <a:prstGeom prst="roundRect">
            <a:avLst>
              <a:gd name="adj" fmla="val 4166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" y="283464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RAG-style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" y="3154680"/>
            <a:ext cx="2148840" cy="256032"/>
          </a:xfrm>
          <a:prstGeom prst="roundRect">
            <a:avLst>
              <a:gd name="adj" fmla="val 4166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" y="31546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GPU Accel.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109728"/>
            <a:ext cx="9537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Calibri"/>
              </a:rPr>
              <a:t>Solution 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4600" y="566928"/>
            <a:ext cx="1600200" cy="868680"/>
          </a:xfrm>
          <a:prstGeom prst="roundRect">
            <a:avLst>
              <a:gd name="adj" fmla="val 6944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64008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Upload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896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Image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2344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Satellite 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138988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Aerial JPEG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9664" y="8686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566928"/>
            <a:ext cx="1600200" cy="868680"/>
          </a:xfrm>
          <a:prstGeom prst="roundRect">
            <a:avLst>
              <a:gd name="adj" fmla="val 6944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64008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YOLOv11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896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12344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People, Vehicles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138988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Boats, Buildings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9904" y="8686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566928"/>
            <a:ext cx="1600200" cy="868680"/>
          </a:xfrm>
          <a:prstGeom prst="roundRect">
            <a:avLst>
              <a:gd name="adj" fmla="val 69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64008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SegFormer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896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12344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Flood%, Roads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138988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Water Depth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0144" y="8686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20" y="566928"/>
            <a:ext cx="1600200" cy="868680"/>
          </a:xfrm>
          <a:prstGeom prst="roundRect">
            <a:avLst>
              <a:gd name="adj" fmla="val 69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64008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7 MCP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896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Agents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12344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Geo, Pop, Risk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138988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Rescue, Report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30384" y="86868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95560" y="566928"/>
            <a:ext cx="1600200" cy="868680"/>
          </a:xfrm>
          <a:prstGeom prst="roundRect">
            <a:avLst>
              <a:gd name="adj" fmla="val 6944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95560" y="64008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5560" y="896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560" y="1234440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Risk Score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5560" y="138988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Rescue Plan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14600" y="1572768"/>
            <a:ext cx="9537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  <a:latin typeface="Calibri"/>
              </a:rPr>
              <a:t>7-Agent MCP Pipeline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14600" y="1938528"/>
            <a:ext cx="2331720" cy="411480"/>
          </a:xfrm>
          <a:prstGeom prst="roundRect">
            <a:avLst>
              <a:gd name="adj" fmla="val 5555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14600" y="195681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VisionAgent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14600" y="213969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YOLO + satellite augmentation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37760" y="1938528"/>
            <a:ext cx="2331720" cy="411480"/>
          </a:xfrm>
          <a:prstGeom prst="roundRect">
            <a:avLst>
              <a:gd name="adj" fmla="val 5555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37760" y="195681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FloodAgent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213969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SegFormer + HSV segmentation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60920" y="1938528"/>
            <a:ext cx="2331720" cy="411480"/>
          </a:xfrm>
          <a:prstGeom prst="roundRect">
            <a:avLst>
              <a:gd name="adj" fmla="val 5555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60920" y="195681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GeoAgent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213969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EXIF GPS + OSM Nominatim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84080" y="1938528"/>
            <a:ext cx="2331720" cy="411480"/>
          </a:xfrm>
          <a:prstGeom prst="roundRect">
            <a:avLst>
              <a:gd name="adj" fmla="val 5555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84080" y="195681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PopAgent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213969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India census density model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14600" y="2441448"/>
            <a:ext cx="2331720" cy="411480"/>
          </a:xfrm>
          <a:prstGeom prst="roundRect">
            <a:avLst>
              <a:gd name="adj" fmla="val 5555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14600" y="245973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RiskAgent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14600" y="264261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Composite 0-100 risk score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37760" y="2441448"/>
            <a:ext cx="2331720" cy="411480"/>
          </a:xfrm>
          <a:prstGeom prst="roundRect">
            <a:avLst>
              <a:gd name="adj" fmla="val 5555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37760" y="245973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RescueAgent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60" y="264261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Prioritised rescue planning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60920" y="2441448"/>
            <a:ext cx="2331720" cy="411480"/>
          </a:xfrm>
          <a:prstGeom prst="roundRect">
            <a:avLst>
              <a:gd name="adj" fmla="val 5555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60920" y="245973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ReportAgent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60920" y="2642616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Compile findings + output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14600" y="3035808"/>
            <a:ext cx="9537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A1628"/>
                </a:solidFill>
                <a:latin typeface="Calibri"/>
              </a:rPr>
              <a:t>Technology Stack: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514600" y="3337560"/>
            <a:ext cx="707745" cy="246888"/>
          </a:xfrm>
          <a:prstGeom prst="roundRect">
            <a:avLst>
              <a:gd name="adj" fmla="val 41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14600" y="3337560"/>
            <a:ext cx="70774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40AF"/>
                </a:solidFill>
                <a:latin typeface="Calibri"/>
              </a:rPr>
              <a:t>YOLOv11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95497" y="3337560"/>
            <a:ext cx="857707" cy="246888"/>
          </a:xfrm>
          <a:prstGeom prst="roundRect">
            <a:avLst>
              <a:gd name="adj" fmla="val 41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95497" y="3337560"/>
            <a:ext cx="85770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40AF"/>
                </a:solidFill>
                <a:latin typeface="Calibri"/>
              </a:rPr>
              <a:t>SegFormer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226356" y="3337560"/>
            <a:ext cx="707745" cy="246888"/>
          </a:xfrm>
          <a:prstGeom prst="roundRect">
            <a:avLst>
              <a:gd name="adj" fmla="val 41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26356" y="3337560"/>
            <a:ext cx="70774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40AF"/>
                </a:solidFill>
                <a:latin typeface="Calibri"/>
              </a:rPr>
              <a:t>FastAPI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07253" y="3337560"/>
            <a:ext cx="707745" cy="246888"/>
          </a:xfrm>
          <a:prstGeom prst="roundRect">
            <a:avLst>
              <a:gd name="adj" fmla="val 41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07253" y="3337560"/>
            <a:ext cx="70774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40AF"/>
                </a:solidFill>
                <a:latin typeface="Calibri"/>
              </a:rPr>
              <a:t>Node.js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788150" y="3337560"/>
            <a:ext cx="1082649" cy="246888"/>
          </a:xfrm>
          <a:prstGeom prst="roundRect">
            <a:avLst>
              <a:gd name="adj" fmla="val 41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88150" y="3337560"/>
            <a:ext cx="108264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40AF"/>
                </a:solidFill>
                <a:latin typeface="Calibri"/>
              </a:rPr>
              <a:t>React + Vite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943951" y="3337560"/>
            <a:ext cx="1082649" cy="246888"/>
          </a:xfrm>
          <a:prstGeom prst="roundRect">
            <a:avLst>
              <a:gd name="adj" fmla="val 41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43951" y="3337560"/>
            <a:ext cx="108264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40AF"/>
                </a:solidFill>
                <a:latin typeface="Calibri"/>
              </a:rPr>
              <a:t>AMD ROCm 7.2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099752" y="3337560"/>
            <a:ext cx="707745" cy="246888"/>
          </a:xfrm>
          <a:prstGeom prst="roundRect">
            <a:avLst>
              <a:gd name="adj" fmla="val 41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99752" y="3337560"/>
            <a:ext cx="70774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40AF"/>
                </a:solidFill>
                <a:latin typeface="Calibri"/>
              </a:rPr>
              <a:t>MCP SDK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880649" y="3337560"/>
            <a:ext cx="632764" cy="246888"/>
          </a:xfrm>
          <a:prstGeom prst="roundRect">
            <a:avLst>
              <a:gd name="adj" fmla="val 41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80649" y="3337560"/>
            <a:ext cx="6327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40AF"/>
                </a:solidFill>
                <a:latin typeface="Calibri"/>
              </a:rPr>
              <a:t>OpenCV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586565" y="3337560"/>
            <a:ext cx="1007668" cy="246888"/>
          </a:xfrm>
          <a:prstGeom prst="roundRect">
            <a:avLst>
              <a:gd name="adj" fmla="val 41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586565" y="3337560"/>
            <a:ext cx="10076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40AF"/>
                </a:solidFill>
                <a:latin typeface="Calibri"/>
              </a:rPr>
              <a:t>PyTorch 2.x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2377440" cy="4114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64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04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411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Models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713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1051560"/>
            <a:ext cx="2011680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4A3B8"/>
                </a:solidFill>
                <a:latin typeface="Calibri"/>
              </a:rPr>
              <a:t>AMD Hackathon 2026  |  Team-1097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0"/>
            <a:ext cx="981151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0"/>
            <a:ext cx="9811512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6675120"/>
            <a:ext cx="9811512" cy="1828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23444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2344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AMD Instinct MI300X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" y="15087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VRAM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50876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8 GB HBM3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1783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ROCm 7.2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" y="2057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05740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PyTorch 2.x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" y="2331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3317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CUDA-compat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109728"/>
            <a:ext cx="9537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Calibri"/>
              </a:rPr>
              <a:t>Models, Datasets &amp;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66928"/>
            <a:ext cx="9537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Models Used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4600" y="868680"/>
            <a:ext cx="1463040" cy="274320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905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40" y="868680"/>
            <a:ext cx="2743200" cy="274320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90525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868680"/>
            <a:ext cx="2286000" cy="274320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90525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Weights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868680"/>
            <a:ext cx="1371600" cy="274320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9052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1143000"/>
            <a:ext cx="1463040" cy="274320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117957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YOLOv11n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77640" y="1143000"/>
            <a:ext cx="2743200" cy="274320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117957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Object Detection (80 COCO classes)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1143000"/>
            <a:ext cx="2286000" cy="274320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117957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yolo11n.pt (pre-trained)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1143000"/>
            <a:ext cx="1371600" cy="274320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117957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AMD GPU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4600" y="1417320"/>
            <a:ext cx="14630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145389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SegFormer mit-b2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7640" y="1417320"/>
            <a:ext cx="2743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60" y="145389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Semantic Segmentation (ADE20K)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0840" y="1417320"/>
            <a:ext cx="22860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145389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nvidia/mit-b2 HuggingFace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1417320"/>
            <a:ext cx="13716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14538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AMD GPU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14600" y="1691640"/>
            <a:ext cx="1463040" cy="274320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0" y="17282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Qwen3-8B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77640" y="1691640"/>
            <a:ext cx="2743200" cy="274320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0" y="172821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LLM Narrative / Rescue Reports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1691640"/>
            <a:ext cx="2286000" cy="274320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17282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vLLM hosted locally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1691640"/>
            <a:ext cx="1371600" cy="274320"/>
          </a:xfrm>
          <a:prstGeom prst="rect">
            <a:avLst/>
          </a:prstGeom>
          <a:solidFill>
            <a:srgbClr val="F0FDFA"/>
          </a:solidFill>
          <a:ln>
            <a:solidFill>
              <a:srgbClr val="F0F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0" y="1728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AMD GPU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14600" y="1965960"/>
            <a:ext cx="14630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0" y="200253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OpenCV HSV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77640" y="1965960"/>
            <a:ext cx="2743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23360" y="200253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Satellite Flood Water Mapping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20840" y="1965960"/>
            <a:ext cx="22860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66560" y="20025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Rule-based, no training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06840" y="1965960"/>
            <a:ext cx="13716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2560" y="200253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Calibri"/>
              </a:rPr>
              <a:t>CPU fallback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14600" y="2286000"/>
            <a:ext cx="9537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Datasets &amp; Training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14600" y="2578608"/>
            <a:ext cx="9491472" cy="841248"/>
          </a:xfrm>
          <a:prstGeom prst="roundRect">
            <a:avLst>
              <a:gd name="adj" fmla="val 6944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606040" y="2688336"/>
            <a:ext cx="91440" cy="914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0" y="2651760"/>
            <a:ext cx="9308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No fine-tuning — all models used off-the-shelf as pre-trained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606040" y="2889504"/>
            <a:ext cx="91440" cy="914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0" y="2852928"/>
            <a:ext cx="9308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COCO (330K images, 80 classes) embedded in YOLOv11n weights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606040" y="3090672"/>
            <a:ext cx="91440" cy="914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0" y="3054096"/>
            <a:ext cx="9308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ADE20K (20K images, 150 classes) embedded in SegFormer mit-b2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606040" y="3291840"/>
            <a:ext cx="91440" cy="914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0" y="3255264"/>
            <a:ext cx="9308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Satellite augmentation = rule-based OpenCV (zero training required)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14600" y="3493008"/>
            <a:ext cx="9537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Performance Metrics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514600" y="3813048"/>
            <a:ext cx="1828800" cy="868680"/>
          </a:xfrm>
          <a:prstGeom prst="roundRect">
            <a:avLst>
              <a:gd name="adj" fmla="val 6944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14600" y="3858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End-to-End Latency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14600" y="41330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2–5 sec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14600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Full pipeline, GPU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53128" y="3813048"/>
            <a:ext cx="1828800" cy="868680"/>
          </a:xfrm>
          <a:prstGeom prst="roundRect">
            <a:avLst>
              <a:gd name="adj" fmla="val 6944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53128" y="3858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YOLOv11 Inference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53128" y="41330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~85 ms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53128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640px, AMD GPU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391656" y="3813048"/>
            <a:ext cx="1828800" cy="868680"/>
          </a:xfrm>
          <a:prstGeom prst="roundRect">
            <a:avLst>
              <a:gd name="adj" fmla="val 69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91656" y="3858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Flood Segmentation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91656" y="41330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~70 ms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91656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SegFormer B2, GPU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30184" y="3813048"/>
            <a:ext cx="1828800" cy="868680"/>
          </a:xfrm>
          <a:prstGeom prst="roundRect">
            <a:avLst>
              <a:gd name="adj" fmla="val 69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30184" y="3858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GPU Memory Usage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30184" y="41330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~4.2 GB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30184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Both models loaded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268712" y="3813048"/>
            <a:ext cx="1828800" cy="868680"/>
          </a:xfrm>
          <a:prstGeom prst="roundRect">
            <a:avLst>
              <a:gd name="adj" fmla="val 6944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68712" y="3858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Tokens (Qwen3)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68712" y="41330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800–1200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68712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Report + rescue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A1628"/>
          </a:solidFill>
          <a:ln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2377440" cy="4114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64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6B6D4"/>
                </a:solidFill>
                <a:latin typeface="Calibri"/>
              </a:rPr>
              <a:t>05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411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Impact &amp;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713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1051560"/>
            <a:ext cx="2011680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510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4A3B8"/>
                </a:solidFill>
                <a:latin typeface="Calibri"/>
              </a:rPr>
              <a:t>AMD Hackathon 2026  |  Team-1097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0"/>
            <a:ext cx="981151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0"/>
            <a:ext cx="9811512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6675120"/>
            <a:ext cx="9811512" cy="1828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2344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158191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faster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" y="203911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&lt; 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" y="238658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per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2843784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3191256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109728"/>
            <a:ext cx="9537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Calibri"/>
              </a:rPr>
              <a:t>Impact &amp; Demo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66928"/>
            <a:ext cx="9537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Expected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868680"/>
            <a:ext cx="1005840" cy="274320"/>
          </a:xfrm>
          <a:prstGeom prst="roundRect">
            <a:avLst>
              <a:gd name="adj" fmla="val 41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868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868680"/>
            <a:ext cx="84399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4–12 hrs manual assessment → under 5 seconds automated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1197864"/>
            <a:ext cx="1005840" cy="274320"/>
          </a:xfrm>
          <a:prstGeom prst="roundRect">
            <a:avLst>
              <a:gd name="adj" fmla="val 4166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11978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1197864"/>
            <a:ext cx="84399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One analyst processes 100s of images per minute via batch mode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1527048"/>
            <a:ext cx="1005840" cy="274320"/>
          </a:xfrm>
          <a:prstGeom prst="roundRect">
            <a:avLst>
              <a:gd name="adj" fmla="val 4166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1527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1527048"/>
            <a:ext cx="84399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Deployable for any flood-prone region with satellite/drone imagery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1856232"/>
            <a:ext cx="1005840" cy="274320"/>
          </a:xfrm>
          <a:prstGeom prst="roundRect">
            <a:avLst>
              <a:gd name="adj" fmla="val 4166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18562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Lives Saved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1856232"/>
            <a:ext cx="84399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Accurate early risk scores trigger faster NDRF deployment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2185416"/>
            <a:ext cx="1005840" cy="274320"/>
          </a:xfrm>
          <a:prstGeom prst="roundRect">
            <a:avLst>
              <a:gd name="adj" fmla="val 4166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21854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2185416"/>
            <a:ext cx="84399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Responders get rescue plans with resource lists instantly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2651760"/>
            <a:ext cx="9537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Key Differentiators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14600" y="2971800"/>
            <a:ext cx="9491472" cy="274320"/>
          </a:xfrm>
          <a:prstGeom prst="roundRect">
            <a:avLst>
              <a:gd name="adj" fmla="val 416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29718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2971800"/>
            <a:ext cx="9262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Satellite-native OpenCV augmentation compensates for YOLO's ground-level training bias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14600" y="3291840"/>
            <a:ext cx="9491472" cy="274320"/>
          </a:xfrm>
          <a:prstGeom prst="roundRect">
            <a:avLst>
              <a:gd name="adj" fmla="val 416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32918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3291840"/>
            <a:ext cx="9262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7-agent MCP pipeline — each agent specialised, all chained in under 5 seconds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14600" y="3611880"/>
            <a:ext cx="9491472" cy="274320"/>
          </a:xfrm>
          <a:prstGeom prst="roundRect">
            <a:avLst>
              <a:gd name="adj" fmla="val 416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0" y="36118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3611880"/>
            <a:ext cx="9262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5-range HSV water mask tuned specifically for Indian monsoon silt and turbidity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14600" y="3931920"/>
            <a:ext cx="9491472" cy="274320"/>
          </a:xfrm>
          <a:prstGeom prst="roundRect">
            <a:avLst>
              <a:gd name="adj" fmla="val 416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0" y="393192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3931920"/>
            <a:ext cx="9262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Physics-based occupancy model for people estimation (replaces noisy blob detection)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14600" y="4251960"/>
            <a:ext cx="9491472" cy="274320"/>
          </a:xfrm>
          <a:prstGeom prst="roundRect">
            <a:avLst>
              <a:gd name="adj" fmla="val 416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0" y="425196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8920" y="4251960"/>
            <a:ext cx="9262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155"/>
                </a:solidFill>
                <a:latin typeface="Calibri"/>
              </a:rPr>
              <a:t>Complete output: flood map + risk score + rescue plan + population + report in one API call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14600" y="4709160"/>
            <a:ext cx="9537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Demo Flow — What the Jury Should Notice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14600" y="5010912"/>
            <a:ext cx="1783080" cy="804672"/>
          </a:xfrm>
          <a:prstGeom prst="roundRect">
            <a:avLst>
              <a:gd name="adj" fmla="val 6944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14600" y="5047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1. Upload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53035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Select satellite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14600" y="55138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image from samples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89119" y="5010912"/>
            <a:ext cx="1783080" cy="804672"/>
          </a:xfrm>
          <a:prstGeom prst="roundRect">
            <a:avLst>
              <a:gd name="adj" fmla="val 6944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19" y="5047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2. Process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19" y="53035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Watch 7-agent MCP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19" y="55138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pipeline logs live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63638" y="5010912"/>
            <a:ext cx="1783080" cy="804672"/>
          </a:xfrm>
          <a:prstGeom prst="roundRect">
            <a:avLst>
              <a:gd name="adj" fmla="val 69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38" y="5047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3. Results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38" y="53035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See flood overlay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38" y="55138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+ annotated image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8157" y="5010912"/>
            <a:ext cx="1783080" cy="804672"/>
          </a:xfrm>
          <a:prstGeom prst="roundRect">
            <a:avLst>
              <a:gd name="adj" fmla="val 6944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8157" y="5047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4. Report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57" y="53035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Risk score, rescue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57" y="55138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plan + resources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12676" y="5010912"/>
            <a:ext cx="1783080" cy="804672"/>
          </a:xfrm>
          <a:prstGeom prst="roundRect">
            <a:avLst>
              <a:gd name="adj" fmla="val 69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12676" y="5047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5. Batch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76" y="530352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Run 3 images,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12676" y="55138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see aggregate stats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